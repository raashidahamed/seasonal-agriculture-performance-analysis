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26B757-F7CA-47BD-BFE5-874721D6D8E0}" v="1" dt="2026-09-12T07:41:40.05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8" autoAdjust="0"/>
    <p:restoredTop sz="95033" autoAdjust="0"/>
  </p:normalViewPr>
  <p:slideViewPr>
    <p:cSldViewPr snapToGrid="0">
      <p:cViewPr varScale="1">
        <p:scale>
          <a:sx n="85" d="100"/>
          <a:sy n="85" d="100"/>
        </p:scale>
        <p:origin x="114" y="64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ashid Ahamed" userId="07e4763cb423957b" providerId="LiveId" clId="{3150039E-6A0F-4427-A27C-31F948E87C1E}"/>
    <pc:docChg chg="custSel modSld">
      <pc:chgData name="Raashid Ahamed" userId="07e4763cb423957b" providerId="LiveId" clId="{3150039E-6A0F-4427-A27C-31F948E87C1E}" dt="2026-09-12T07:42:05.515" v="10" actId="14100"/>
      <pc:docMkLst>
        <pc:docMk/>
      </pc:docMkLst>
      <pc:sldChg chg="addSp delSp modSp mod">
        <pc:chgData name="Raashid Ahamed" userId="07e4763cb423957b" providerId="LiveId" clId="{3150039E-6A0F-4427-A27C-31F948E87C1E}" dt="2026-09-12T07:42:05.515" v="10" actId="14100"/>
        <pc:sldMkLst>
          <pc:docMk/>
          <pc:sldMk cId="3863610428" sldId="342"/>
        </pc:sldMkLst>
        <pc:spChg chg="del mod">
          <ac:chgData name="Raashid Ahamed" userId="07e4763cb423957b" providerId="LiveId" clId="{3150039E-6A0F-4427-A27C-31F948E87C1E}" dt="2026-09-12T07:41:13.088" v="2"/>
          <ac:spMkLst>
            <pc:docMk/>
            <pc:sldMk cId="3863610428" sldId="342"/>
            <ac:spMk id="3" creationId="{5F0B37E4-66B1-8633-7266-68B321742757}"/>
          </ac:spMkLst>
        </pc:spChg>
        <pc:spChg chg="add mod">
          <ac:chgData name="Raashid Ahamed" userId="07e4763cb423957b" providerId="LiveId" clId="{3150039E-6A0F-4427-A27C-31F948E87C1E}" dt="2026-09-12T07:42:05.515" v="10" actId="14100"/>
          <ac:spMkLst>
            <pc:docMk/>
            <pc:sldMk cId="3863610428" sldId="342"/>
            <ac:spMk id="6" creationId="{5C7C9909-0D5F-4D2B-A899-2F29C89F752A}"/>
          </ac:spMkLst>
        </pc:spChg>
        <pc:spChg chg="del mod">
          <ac:chgData name="Raashid Ahamed" userId="07e4763cb423957b" providerId="LiveId" clId="{3150039E-6A0F-4427-A27C-31F948E87C1E}" dt="2026-09-12T07:41:17.776" v="5" actId="478"/>
          <ac:spMkLst>
            <pc:docMk/>
            <pc:sldMk cId="3863610428" sldId="342"/>
            <ac:spMk id="2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9/12/2026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9/12/2026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AE"/>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9/12/2026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raashidahamed/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334530" y="3930138"/>
            <a:ext cx="5181600" cy="646331"/>
          </a:xfrm>
        </p:spPr>
        <p:txBody>
          <a:bodyPr vert="horz" lIns="91440" tIns="45720" rIns="91440" bIns="45720" rtlCol="0" anchor="t">
            <a:normAutofit fontScale="62500" lnSpcReduction="20000"/>
          </a:bodyPr>
          <a:lstStyle/>
          <a:p>
            <a:r>
              <a:rPr lang="en-US" b="0" dirty="0">
                <a:solidFill>
                  <a:schemeClr val="tx1"/>
                </a:solidFill>
              </a:rPr>
              <a:t>Raashid Ahamed Nazeer Hussain – </a:t>
            </a:r>
          </a:p>
          <a:p>
            <a:r>
              <a:rPr lang="en-AE" b="0" dirty="0">
                <a:solidFill>
                  <a:schemeClr val="tx1"/>
                </a:solidFill>
              </a:rPr>
              <a:t>B. S. Abdur Rahman Crescent Institute Of Science And Technology</a:t>
            </a:r>
          </a:p>
          <a:p>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fontScale="90000"/>
          </a:bodyPr>
          <a:lstStyle/>
          <a:p>
            <a:r>
              <a:rPr dirty="0"/>
              <a:t>Project Title - 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334529" y="4517978"/>
            <a:ext cx="4703805" cy="307777"/>
          </a:xfrm>
          <a:prstGeom prst="rect">
            <a:avLst/>
          </a:prstGeom>
          <a:noFill/>
        </p:spPr>
        <p:txBody>
          <a:bodyPr wrap="square" rtlCol="0">
            <a:spAutoFit/>
          </a:bodyPr>
          <a:lstStyle/>
          <a:p>
            <a:r>
              <a:rPr sz="1300" dirty="0"/>
              <a:t>AICTE STU ID:</a:t>
            </a:r>
            <a:r>
              <a:rPr lang="en-US" sz="1300" dirty="0"/>
              <a:t> </a:t>
            </a:r>
            <a:r>
              <a:rPr lang="en-AE" sz="1400" dirty="0"/>
              <a:t>STU684a6ad30560a1749707475</a:t>
            </a:r>
            <a:r>
              <a:rPr sz="1300" dirty="0"/>
              <a:t>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92500" lnSpcReduction="10000"/>
          </a:bodyPr>
          <a:lstStyle/>
          <a:p>
            <a:pPr>
              <a:lnSpc>
                <a:spcPct val="100000"/>
              </a:lnSpc>
            </a:pPr>
            <a:r>
              <a:rPr lang="en-IN" dirty="0"/>
              <a:t>(</a:t>
            </a:r>
            <a:r>
              <a:rPr lang="en-US"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dirty="0"/>
              <a:t>Project Description</a:t>
            </a:r>
            <a:br>
              <a:rPr lang="en-US" dirty="0"/>
            </a:br>
            <a:br>
              <a:rPr dirty="0"/>
            </a:br>
            <a:r>
              <a:rPr sz="2700" b="0" dirty="0"/>
              <a:t>Analyze farm-level agricultural data across Kharif, Rabi and Zaid seasons. The project covers data cleaning, exploratory analysis, seasonal comparisons, crop and irrigation analysis, regional comparisons, correlation analysis and statistical testing to identify evidence-based insights for agricultural planning. </a:t>
            </a:r>
            <a:br>
              <a:rPr sz="2700" b="0" dirty="0"/>
            </a:br>
            <a:endParaRPr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914400" y="1828800"/>
            <a:ext cx="10058400" cy="3200400"/>
          </a:xfrm>
          <a:prstGeom prst="rect">
            <a:avLst/>
          </a:prstGeom>
          <a:noFill/>
        </p:spPr>
        <p:txBody>
          <a:bodyPr wrap="square">
            <a:spAutoFit/>
          </a:bodyPr>
          <a:lstStyle/>
          <a:p>
            <a:pPr algn="l"/>
            <a:r>
              <a:rPr sz="1800" b="0" dirty="0"/>
              <a:t>• Farmers – seasonal planning and resource decisions
• Agricultural planners – evidence-based seasonal planning
• Government/agricultural agencies – regional and seasonal monitoring
• Researchers – study environmental and production relationships
• Agribusiness organizations – resource and economic planning</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17" name="TextBox 16"/>
          <p:cNvSpPr txBox="1"/>
          <p:nvPr/>
        </p:nvSpPr>
        <p:spPr>
          <a:xfrm>
            <a:off x="914400" y="1828800"/>
            <a:ext cx="10058400" cy="3200400"/>
          </a:xfrm>
          <a:prstGeom prst="rect">
            <a:avLst/>
          </a:prstGeom>
          <a:noFill/>
        </p:spPr>
        <p:txBody>
          <a:bodyPr wrap="square">
            <a:spAutoFit/>
          </a:bodyPr>
          <a:lstStyle/>
          <a:p>
            <a:pPr algn="l"/>
            <a:r>
              <a:rPr sz="1900" b="0"/>
              <a:t>Python
Google Colab / Jupyter Notebook
Pandas • NumPy • Matplotlib • SciPy
Data Cleaning • EDA • Descriptive Statistics
Spearman Correlation • Kruskal–Wallis Test • Data Visualization</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914400" y="1645920"/>
            <a:ext cx="10058400" cy="4114800"/>
          </a:xfrm>
          <a:prstGeom prst="rect">
            <a:avLst/>
          </a:prstGeom>
          <a:noFill/>
        </p:spPr>
        <p:txBody>
          <a:bodyPr wrap="square">
            <a:spAutoFit/>
          </a:bodyPr>
          <a:lstStyle/>
          <a:p>
            <a:pPr algn="l"/>
            <a:r>
              <a:rPr sz="1800" b="0"/>
              <a:t>Dataset: 4,000 records | 28 variables
Kharif median yield: 1.95 t/ha
Kharif median profit: ₹38,808
Zaid median profit: ₹-62,144
Top average-profit crop: Sugarcane (₹817,188)
Highest average irrigation efficiency: Rainfed (7.56 t/1,000 m³)</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1355418" y="1084746"/>
            <a:ext cx="10515600" cy="457200"/>
          </a:xfrm>
          <a:prstGeom prst="rect">
            <a:avLst/>
          </a:prstGeom>
          <a:noFill/>
        </p:spPr>
        <p:txBody>
          <a:bodyPr wrap="square">
            <a:spAutoFit/>
          </a:bodyPr>
          <a:lstStyle/>
          <a:p>
            <a:pPr algn="ctr"/>
            <a:r>
              <a:rPr sz="1800" b="1" dirty="0"/>
              <a:t>RESULTS – Seasonal Yield</a:t>
            </a:r>
          </a:p>
        </p:txBody>
      </p:sp>
      <p:pic>
        <p:nvPicPr>
          <p:cNvPr id="32" name="Picture 31" descr="01_median_yield_by_season.png"/>
          <p:cNvPicPr>
            <a:picLocks noChangeAspect="1"/>
          </p:cNvPicPr>
          <p:nvPr/>
        </p:nvPicPr>
        <p:blipFill>
          <a:blip r:embed="rId3"/>
          <a:stretch>
            <a:fillRect/>
          </a:stretch>
        </p:blipFill>
        <p:spPr>
          <a:xfrm>
            <a:off x="3033486" y="1426258"/>
            <a:ext cx="6400800" cy="3646025"/>
          </a:xfrm>
          <a:prstGeom prst="rect">
            <a:avLst/>
          </a:prstGeom>
        </p:spPr>
      </p:pic>
      <p:sp>
        <p:nvSpPr>
          <p:cNvPr id="33" name="TextBox 32"/>
          <p:cNvSpPr txBox="1"/>
          <p:nvPr/>
        </p:nvSpPr>
        <p:spPr>
          <a:xfrm>
            <a:off x="389817" y="1941449"/>
            <a:ext cx="2574834" cy="954107"/>
          </a:xfrm>
          <a:prstGeom prst="rect">
            <a:avLst/>
          </a:prstGeom>
          <a:noFill/>
        </p:spPr>
        <p:txBody>
          <a:bodyPr wrap="square">
            <a:spAutoFit/>
          </a:bodyPr>
          <a:lstStyle/>
          <a:p>
            <a:pPr algn="l"/>
            <a:r>
              <a:rPr sz="1400" b="0" dirty="0"/>
              <a:t>Key takeaway: Kharif has the highest median yield (1.95 t/ha); Zaid is lowest (1.45 t/ha).</a:t>
            </a:r>
          </a:p>
        </p:txBody>
      </p:sp>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1600200" y="1633621"/>
            <a:ext cx="10515600" cy="457200"/>
          </a:xfrm>
          <a:prstGeom prst="rect">
            <a:avLst/>
          </a:prstGeom>
          <a:noFill/>
        </p:spPr>
        <p:txBody>
          <a:bodyPr wrap="square">
            <a:spAutoFit/>
          </a:bodyPr>
          <a:lstStyle/>
          <a:p>
            <a:pPr algn="ctr"/>
            <a:r>
              <a:rPr sz="1800" b="1" dirty="0"/>
              <a:t>RESULTS – Seasonal Profit</a:t>
            </a:r>
          </a:p>
        </p:txBody>
      </p:sp>
      <p:pic>
        <p:nvPicPr>
          <p:cNvPr id="32" name="Picture 31" descr="02_median_profit_by_season.png"/>
          <p:cNvPicPr>
            <a:picLocks noChangeAspect="1"/>
          </p:cNvPicPr>
          <p:nvPr/>
        </p:nvPicPr>
        <p:blipFill>
          <a:blip r:embed="rId3"/>
          <a:stretch>
            <a:fillRect/>
          </a:stretch>
        </p:blipFill>
        <p:spPr>
          <a:xfrm>
            <a:off x="320982" y="2145722"/>
            <a:ext cx="6400800" cy="3646025"/>
          </a:xfrm>
          <a:prstGeom prst="rect">
            <a:avLst/>
          </a:prstGeom>
        </p:spPr>
      </p:pic>
      <p:sp>
        <p:nvSpPr>
          <p:cNvPr id="33" name="TextBox 32"/>
          <p:cNvSpPr txBox="1"/>
          <p:nvPr/>
        </p:nvSpPr>
        <p:spPr>
          <a:xfrm>
            <a:off x="6908801" y="3113749"/>
            <a:ext cx="3474720" cy="2468880"/>
          </a:xfrm>
          <a:prstGeom prst="rect">
            <a:avLst/>
          </a:prstGeom>
          <a:noFill/>
        </p:spPr>
        <p:txBody>
          <a:bodyPr wrap="square">
            <a:spAutoFit/>
          </a:bodyPr>
          <a:lstStyle/>
          <a:p>
            <a:pPr algn="l"/>
            <a:r>
              <a:rPr sz="1400" b="0" dirty="0"/>
              <a:t>Key takeaway: Kharif has the strongest typical profit, while Zaid has a negative median profit (₹-62,144).</a:t>
            </a:r>
          </a:p>
        </p:txBody>
      </p:sp>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1280161" y="1368406"/>
            <a:ext cx="10515600" cy="457200"/>
          </a:xfrm>
          <a:prstGeom prst="rect">
            <a:avLst/>
          </a:prstGeom>
          <a:noFill/>
        </p:spPr>
        <p:txBody>
          <a:bodyPr wrap="square">
            <a:spAutoFit/>
          </a:bodyPr>
          <a:lstStyle/>
          <a:p>
            <a:pPr algn="ctr"/>
            <a:r>
              <a:rPr sz="1800" b="1" dirty="0"/>
              <a:t>RESULTS – Crop Profitability</a:t>
            </a:r>
          </a:p>
        </p:txBody>
      </p:sp>
      <p:pic>
        <p:nvPicPr>
          <p:cNvPr id="32" name="Picture 31" descr="05_profit_by_crop.png"/>
          <p:cNvPicPr>
            <a:picLocks noChangeAspect="1"/>
          </p:cNvPicPr>
          <p:nvPr/>
        </p:nvPicPr>
        <p:blipFill>
          <a:blip r:embed="rId3"/>
          <a:stretch>
            <a:fillRect/>
          </a:stretch>
        </p:blipFill>
        <p:spPr>
          <a:xfrm>
            <a:off x="827314" y="2165260"/>
            <a:ext cx="6400800" cy="3640237"/>
          </a:xfrm>
          <a:prstGeom prst="rect">
            <a:avLst/>
          </a:prstGeom>
        </p:spPr>
      </p:pic>
      <p:sp>
        <p:nvSpPr>
          <p:cNvPr id="33" name="TextBox 32"/>
          <p:cNvSpPr txBox="1"/>
          <p:nvPr/>
        </p:nvSpPr>
        <p:spPr>
          <a:xfrm>
            <a:off x="7228114" y="3110555"/>
            <a:ext cx="2728686" cy="738664"/>
          </a:xfrm>
          <a:prstGeom prst="rect">
            <a:avLst/>
          </a:prstGeom>
          <a:noFill/>
        </p:spPr>
        <p:txBody>
          <a:bodyPr wrap="square">
            <a:spAutoFit/>
          </a:bodyPr>
          <a:lstStyle/>
          <a:p>
            <a:pPr algn="l"/>
            <a:r>
              <a:rPr sz="1400" b="0" dirty="0"/>
              <a:t>Key takeaway: Sugarcane and Chilli show the highest average profits in the supplied dataset.</a:t>
            </a:r>
          </a:p>
        </p:txBody>
      </p:sp>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1" name="TextBox 30"/>
          <p:cNvSpPr txBox="1"/>
          <p:nvPr/>
        </p:nvSpPr>
        <p:spPr>
          <a:xfrm>
            <a:off x="-1280161" y="1484249"/>
            <a:ext cx="10515600" cy="457200"/>
          </a:xfrm>
          <a:prstGeom prst="rect">
            <a:avLst/>
          </a:prstGeom>
          <a:noFill/>
        </p:spPr>
        <p:txBody>
          <a:bodyPr wrap="square">
            <a:spAutoFit/>
          </a:bodyPr>
          <a:lstStyle/>
          <a:p>
            <a:pPr algn="ctr"/>
            <a:r>
              <a:rPr sz="1800" b="1" dirty="0"/>
              <a:t>RESULTS – Irrigation</a:t>
            </a:r>
          </a:p>
        </p:txBody>
      </p:sp>
      <p:pic>
        <p:nvPicPr>
          <p:cNvPr id="32" name="Picture 31" descr="04_water_efficiency_irrigation.png"/>
          <p:cNvPicPr>
            <a:picLocks noChangeAspect="1"/>
          </p:cNvPicPr>
          <p:nvPr/>
        </p:nvPicPr>
        <p:blipFill>
          <a:blip r:embed="rId3"/>
          <a:stretch>
            <a:fillRect/>
          </a:stretch>
        </p:blipFill>
        <p:spPr>
          <a:xfrm>
            <a:off x="464143" y="2091820"/>
            <a:ext cx="6400800" cy="3640237"/>
          </a:xfrm>
          <a:prstGeom prst="rect">
            <a:avLst/>
          </a:prstGeom>
        </p:spPr>
      </p:pic>
      <p:sp>
        <p:nvSpPr>
          <p:cNvPr id="33" name="TextBox 32"/>
          <p:cNvSpPr txBox="1"/>
          <p:nvPr/>
        </p:nvSpPr>
        <p:spPr>
          <a:xfrm>
            <a:off x="7050625" y="2957831"/>
            <a:ext cx="2935201" cy="954107"/>
          </a:xfrm>
          <a:prstGeom prst="rect">
            <a:avLst/>
          </a:prstGeom>
          <a:noFill/>
        </p:spPr>
        <p:txBody>
          <a:bodyPr wrap="square">
            <a:spAutoFit/>
          </a:bodyPr>
          <a:lstStyle/>
          <a:p>
            <a:pPr algn="l"/>
            <a:r>
              <a:rPr sz="1400" b="0"/>
              <a:t>Key takeaway: Drip has the highest average yield and profit; Rainfed has the highest water-efficiency metric.</a:t>
            </a:r>
          </a:p>
        </p:txBody>
      </p:sp>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914400" y="1828800"/>
            <a:ext cx="10058400" cy="3200400"/>
          </a:xfrm>
          <a:prstGeom prst="rect">
            <a:avLst/>
          </a:prstGeom>
          <a:noFill/>
        </p:spPr>
        <p:txBody>
          <a:bodyPr wrap="square">
            <a:spAutoFit/>
          </a:bodyPr>
          <a:lstStyle/>
          <a:p>
            <a:pPr algn="l"/>
            <a:r>
              <a:rPr sz="1800" b="0"/>
              <a:t>• Add more years and real-time weather data
• Build an interactive Power BI/Tableau dashboard
• Develop crop-yield/profit prediction models
• Integrate market-price and soil-monitoring data
• Create decision-support recommendations for farmers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5C7C9909-0D5F-4D2B-A899-2F29C89F752A}"/>
              </a:ext>
            </a:extLst>
          </p:cNvPr>
          <p:cNvSpPr txBox="1"/>
          <p:nvPr/>
        </p:nvSpPr>
        <p:spPr>
          <a:xfrm>
            <a:off x="675957" y="2471002"/>
            <a:ext cx="6650532" cy="830997"/>
          </a:xfrm>
          <a:prstGeom prst="rect">
            <a:avLst/>
          </a:prstGeom>
          <a:noFill/>
        </p:spPr>
        <p:txBody>
          <a:bodyPr wrap="square">
            <a:spAutoFit/>
          </a:bodyPr>
          <a:lstStyle/>
          <a:p>
            <a:r>
              <a:rPr lang="en-AE" sz="2400" dirty="0">
                <a:hlinkClick r:id="rId3"/>
              </a:rPr>
              <a:t>https://github.com/raashidahamed/Seasonal-Agriculture-Performance-Analysis</a:t>
            </a:r>
            <a:endParaRPr lang="en-AE" sz="24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Autofit/>
          </a:bodyPr>
          <a:lstStyle/>
          <a:p>
            <a:r>
              <a:rPr sz="2400" dirty="0"/>
              <a:t>VOIS Course completion certificate - </a:t>
            </a:r>
            <a:br>
              <a:rPr sz="2400" dirty="0"/>
            </a:br>
            <a:r>
              <a:rPr sz="2400" dirty="0"/>
              <a:t>Course name – Data Visualization</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CCD07CD-0798-E147-6A8F-73A921C6A335}"/>
              </a:ext>
            </a:extLst>
          </p:cNvPr>
          <p:cNvPicPr>
            <a:picLocks noChangeAspect="1"/>
          </p:cNvPicPr>
          <p:nvPr/>
        </p:nvPicPr>
        <p:blipFill>
          <a:blip r:embed="rId3"/>
          <a:stretch>
            <a:fillRect/>
          </a:stretch>
        </p:blipFill>
        <p:spPr>
          <a:xfrm>
            <a:off x="1366599" y="1275371"/>
            <a:ext cx="7660745" cy="541509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3262458"/>
            <a:ext cx="11340000" cy="700114"/>
          </a:xfrm>
          <a:prstGeom prst="rect">
            <a:avLst/>
          </a:prstGeom>
        </p:spPr>
        <p:txBody>
          <a:bodyPr anchor="ctr">
            <a:noAutofit/>
          </a:bodyPr>
          <a:lstStyle/>
          <a:p>
            <a:pPr algn="ctr"/>
            <a:r>
              <a:rPr lang="en-US" sz="80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1366</TotalTime>
  <Words>485</Words>
  <Application>Microsoft Office PowerPoint</Application>
  <PresentationFormat>Widescreen</PresentationFormat>
  <Paragraphs>34</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Analyze farm-level agricultural data across Kharif, Rabi and Zaid seasons. The project covers data cleaning, exploratory analysis, seasonal comparisons, crop and irrigation analysis, regional comparisons, correlation analysis and statistical testing to identify evidence-based insights for agricultural planning.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 Data Visualization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Raashid Ahamed</cp:lastModifiedBy>
  <cp:revision>99</cp:revision>
  <dcterms:created xsi:type="dcterms:W3CDTF">2021-07-11T13:13:15Z</dcterms:created>
  <dcterms:modified xsi:type="dcterms:W3CDTF">2026-09-12T07:42:08Z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